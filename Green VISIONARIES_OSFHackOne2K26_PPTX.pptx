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8" r:id="rId2"/>
    <p:sldId id="281" r:id="rId3"/>
    <p:sldId id="290" r:id="rId4"/>
    <p:sldId id="293" r:id="rId5"/>
    <p:sldId id="294" r:id="rId6"/>
    <p:sldId id="296" r:id="rId7"/>
  </p:sldIdLst>
  <p:sldSz cx="12192000" cy="6858000"/>
  <p:notesSz cx="7010400" cy="92964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CCFF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3FA852-1E27-41E3-BAD4-FB255233AB44}" v="30" dt="2026-06-26T10:13:25.7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 snapToObjects="1">
      <p:cViewPr>
        <p:scale>
          <a:sx n="75" d="100"/>
          <a:sy n="75" d="100"/>
        </p:scale>
        <p:origin x="965" y="331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lak Parashar" userId="9b95cb465f9901e5" providerId="LiveId" clId="{96D08E17-D6EF-4208-9085-AE64CD27D069}"/>
    <pc:docChg chg="undo redo custSel addSld delSld modSld">
      <pc:chgData name="Palak Parashar" userId="9b95cb465f9901e5" providerId="LiveId" clId="{96D08E17-D6EF-4208-9085-AE64CD27D069}" dt="2026-06-26T10:15:32.323" v="2151" actId="20577"/>
      <pc:docMkLst>
        <pc:docMk/>
      </pc:docMkLst>
      <pc:sldChg chg="modSp mod">
        <pc:chgData name="Palak Parashar" userId="9b95cb465f9901e5" providerId="LiveId" clId="{96D08E17-D6EF-4208-9085-AE64CD27D069}" dt="2026-06-26T10:15:32.323" v="2151" actId="20577"/>
        <pc:sldMkLst>
          <pc:docMk/>
          <pc:sldMk cId="0" sldId="281"/>
        </pc:sldMkLst>
        <pc:spChg chg="mod">
          <ac:chgData name="Palak Parashar" userId="9b95cb465f9901e5" providerId="LiveId" clId="{96D08E17-D6EF-4208-9085-AE64CD27D069}" dt="2026-06-25T18:36:59.104" v="364" actId="1076"/>
          <ac:spMkLst>
            <pc:docMk/>
            <pc:sldMk cId="0" sldId="281"/>
            <ac:spMk id="15361" creationId="{00000000-0000-0000-0000-000000000000}"/>
          </ac:spMkLst>
        </pc:spChg>
        <pc:spChg chg="mod">
          <ac:chgData name="Palak Parashar" userId="9b95cb465f9901e5" providerId="LiveId" clId="{96D08E17-D6EF-4208-9085-AE64CD27D069}" dt="2026-06-26T10:15:32.323" v="2151" actId="20577"/>
          <ac:spMkLst>
            <pc:docMk/>
            <pc:sldMk cId="0" sldId="281"/>
            <ac:spMk id="15362" creationId="{00000000-0000-0000-0000-000000000000}"/>
          </ac:spMkLst>
        </pc:spChg>
      </pc:sldChg>
      <pc:sldChg chg="modSp mod">
        <pc:chgData name="Palak Parashar" userId="9b95cb465f9901e5" providerId="LiveId" clId="{96D08E17-D6EF-4208-9085-AE64CD27D069}" dt="2026-06-26T08:58:05.442" v="868" actId="1076"/>
        <pc:sldMkLst>
          <pc:docMk/>
          <pc:sldMk cId="0" sldId="290"/>
        </pc:sldMkLst>
        <pc:spChg chg="mod">
          <ac:chgData name="Palak Parashar" userId="9b95cb465f9901e5" providerId="LiveId" clId="{96D08E17-D6EF-4208-9085-AE64CD27D069}" dt="2026-06-25T18:29:04.585" v="363" actId="20577"/>
          <ac:spMkLst>
            <pc:docMk/>
            <pc:sldMk cId="0" sldId="290"/>
            <ac:spMk id="21" creationId="{625B4AB0-C603-C21B-DFB8-60A33756FAFC}"/>
          </ac:spMkLst>
        </pc:spChg>
        <pc:spChg chg="mod">
          <ac:chgData name="Palak Parashar" userId="9b95cb465f9901e5" providerId="LiveId" clId="{96D08E17-D6EF-4208-9085-AE64CD27D069}" dt="2026-06-25T18:27:46.583" v="314" actId="20577"/>
          <ac:spMkLst>
            <pc:docMk/>
            <pc:sldMk cId="0" sldId="290"/>
            <ac:spMk id="23" creationId="{BDD0ED58-AD8B-4D39-86FC-091BACD88187}"/>
          </ac:spMkLst>
        </pc:spChg>
        <pc:spChg chg="mod">
          <ac:chgData name="Palak Parashar" userId="9b95cb465f9901e5" providerId="LiveId" clId="{96D08E17-D6EF-4208-9085-AE64CD27D069}" dt="2026-06-25T18:27:02.646" v="279" actId="20577"/>
          <ac:spMkLst>
            <pc:docMk/>
            <pc:sldMk cId="0" sldId="290"/>
            <ac:spMk id="24" creationId="{B50C5724-C528-5E51-35D0-B7FFDAB57C90}"/>
          </ac:spMkLst>
        </pc:spChg>
        <pc:spChg chg="mod">
          <ac:chgData name="Palak Parashar" userId="9b95cb465f9901e5" providerId="LiveId" clId="{96D08E17-D6EF-4208-9085-AE64CD27D069}" dt="2026-06-26T08:58:05.442" v="868" actId="1076"/>
          <ac:spMkLst>
            <pc:docMk/>
            <pc:sldMk cId="0" sldId="290"/>
            <ac:spMk id="17409" creationId="{00000000-0000-0000-0000-000000000000}"/>
          </ac:spMkLst>
        </pc:spChg>
        <pc:spChg chg="mod">
          <ac:chgData name="Palak Parashar" userId="9b95cb465f9901e5" providerId="LiveId" clId="{96D08E17-D6EF-4208-9085-AE64CD27D069}" dt="2026-06-26T08:56:26.652" v="863" actId="20577"/>
          <ac:spMkLst>
            <pc:docMk/>
            <pc:sldMk cId="0" sldId="290"/>
            <ac:spMk id="17410" creationId="{00000000-0000-0000-0000-000000000000}"/>
          </ac:spMkLst>
        </pc:spChg>
      </pc:sldChg>
      <pc:sldChg chg="modSp mod">
        <pc:chgData name="Palak Parashar" userId="9b95cb465f9901e5" providerId="LiveId" clId="{96D08E17-D6EF-4208-9085-AE64CD27D069}" dt="2026-06-26T10:01:12.640" v="1920" actId="20577"/>
        <pc:sldMkLst>
          <pc:docMk/>
          <pc:sldMk cId="3753387913" sldId="293"/>
        </pc:sldMkLst>
        <pc:spChg chg="mod">
          <ac:chgData name="Palak Parashar" userId="9b95cb465f9901e5" providerId="LiveId" clId="{96D08E17-D6EF-4208-9085-AE64CD27D069}" dt="2026-06-26T10:01:01.929" v="1916" actId="20577"/>
          <ac:spMkLst>
            <pc:docMk/>
            <pc:sldMk cId="3753387913" sldId="293"/>
            <ac:spMk id="7" creationId="{4294DBA9-F12E-6930-F2EF-1AF3ABF610BC}"/>
          </ac:spMkLst>
        </pc:spChg>
        <pc:spChg chg="mod">
          <ac:chgData name="Palak Parashar" userId="9b95cb465f9901e5" providerId="LiveId" clId="{96D08E17-D6EF-4208-9085-AE64CD27D069}" dt="2026-06-26T10:01:12.640" v="1920" actId="20577"/>
          <ac:spMkLst>
            <pc:docMk/>
            <pc:sldMk cId="3753387913" sldId="293"/>
            <ac:spMk id="17410" creationId="{00000000-0000-0000-0000-000000000000}"/>
          </ac:spMkLst>
        </pc:spChg>
      </pc:sldChg>
      <pc:sldChg chg="modSp mod">
        <pc:chgData name="Palak Parashar" userId="9b95cb465f9901e5" providerId="LiveId" clId="{96D08E17-D6EF-4208-9085-AE64CD27D069}" dt="2026-06-26T09:51:09.025" v="1865" actId="20577"/>
        <pc:sldMkLst>
          <pc:docMk/>
          <pc:sldMk cId="2997144140" sldId="294"/>
        </pc:sldMkLst>
        <pc:spChg chg="mod">
          <ac:chgData name="Palak Parashar" userId="9b95cb465f9901e5" providerId="LiveId" clId="{96D08E17-D6EF-4208-9085-AE64CD27D069}" dt="2026-06-26T09:51:09.025" v="1865" actId="20577"/>
          <ac:spMkLst>
            <pc:docMk/>
            <pc:sldMk cId="2997144140" sldId="294"/>
            <ac:spMk id="7" creationId="{4B09286E-6587-8588-5245-63D581A0A7F1}"/>
          </ac:spMkLst>
        </pc:spChg>
        <pc:spChg chg="mod">
          <ac:chgData name="Palak Parashar" userId="9b95cb465f9901e5" providerId="LiveId" clId="{96D08E17-D6EF-4208-9085-AE64CD27D069}" dt="2026-06-26T09:50:08.837" v="1862" actId="1076"/>
          <ac:spMkLst>
            <pc:docMk/>
            <pc:sldMk cId="2997144140" sldId="294"/>
            <ac:spMk id="17410" creationId="{00000000-0000-0000-0000-000000000000}"/>
          </ac:spMkLst>
        </pc:spChg>
      </pc:sldChg>
      <pc:sldChg chg="addSp delSp modSp mod">
        <pc:chgData name="Palak Parashar" userId="9b95cb465f9901e5" providerId="LiveId" clId="{96D08E17-D6EF-4208-9085-AE64CD27D069}" dt="2026-06-26T10:14:01.241" v="2098" actId="20577"/>
        <pc:sldMkLst>
          <pc:docMk/>
          <pc:sldMk cId="3916788613" sldId="296"/>
        </pc:sldMkLst>
        <pc:spChg chg="mod">
          <ac:chgData name="Palak Parashar" userId="9b95cb465f9901e5" providerId="LiveId" clId="{96D08E17-D6EF-4208-9085-AE64CD27D069}" dt="2026-06-26T10:14:01.241" v="2098" actId="20577"/>
          <ac:spMkLst>
            <pc:docMk/>
            <pc:sldMk cId="3916788613" sldId="296"/>
            <ac:spMk id="8" creationId="{A90ED391-B850-ACDE-0907-A00440F5BA8E}"/>
          </ac:spMkLst>
        </pc:spChg>
        <pc:cxnChg chg="add del">
          <ac:chgData name="Palak Parashar" userId="9b95cb465f9901e5" providerId="LiveId" clId="{96D08E17-D6EF-4208-9085-AE64CD27D069}" dt="2026-06-26T09:08:50.568" v="1020" actId="478"/>
          <ac:cxnSpMkLst>
            <pc:docMk/>
            <pc:sldMk cId="3916788613" sldId="296"/>
            <ac:cxnSpMk id="9" creationId="{D3338A58-2CF7-C252-6C1A-FD283E48F696}"/>
          </ac:cxnSpMkLst>
        </pc:cxnChg>
      </pc:sldChg>
      <pc:sldChg chg="addSp delSp modSp mod">
        <pc:chgData name="Palak Parashar" userId="9b95cb465f9901e5" providerId="LiveId" clId="{96D08E17-D6EF-4208-9085-AE64CD27D069}" dt="2026-06-25T18:25:01.699" v="275" actId="20577"/>
        <pc:sldMkLst>
          <pc:docMk/>
          <pc:sldMk cId="1516398440" sldId="298"/>
        </pc:sldMkLst>
        <pc:spChg chg="add del mod">
          <ac:chgData name="Palak Parashar" userId="9b95cb465f9901e5" providerId="LiveId" clId="{96D08E17-D6EF-4208-9085-AE64CD27D069}" dt="2026-06-17T21:26:15.318" v="63" actId="20577"/>
          <ac:spMkLst>
            <pc:docMk/>
            <pc:sldMk cId="1516398440" sldId="298"/>
            <ac:spMk id="9" creationId="{7789BB7C-1701-4B66-5939-CB68531A283E}"/>
          </ac:spMkLst>
        </pc:spChg>
        <pc:spChg chg="mod">
          <ac:chgData name="Palak Parashar" userId="9b95cb465f9901e5" providerId="LiveId" clId="{96D08E17-D6EF-4208-9085-AE64CD27D069}" dt="2026-06-25T18:25:01.699" v="275" actId="20577"/>
          <ac:spMkLst>
            <pc:docMk/>
            <pc:sldMk cId="1516398440" sldId="298"/>
            <ac:spMk id="10" creationId="{1CB0B01F-242C-918F-35F7-9FFBFD5FF3EC}"/>
          </ac:spMkLst>
        </pc:spChg>
      </pc:sldChg>
      <pc:sldChg chg="new del">
        <pc:chgData name="Palak Parashar" userId="9b95cb465f9901e5" providerId="LiveId" clId="{96D08E17-D6EF-4208-9085-AE64CD27D069}" dt="2026-06-25T19:05:37.175" v="750" actId="680"/>
        <pc:sldMkLst>
          <pc:docMk/>
          <pc:sldMk cId="1412576675" sldId="299"/>
        </pc:sldMkLst>
      </pc:sldChg>
      <pc:sldChg chg="new del">
        <pc:chgData name="Palak Parashar" userId="9b95cb465f9901e5" providerId="LiveId" clId="{96D08E17-D6EF-4208-9085-AE64CD27D069}" dt="2026-06-25T18:58:13.168" v="724" actId="680"/>
        <pc:sldMkLst>
          <pc:docMk/>
          <pc:sldMk cId="4032395995" sldId="29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64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64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64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defTabSz="465887">
              <a:defRPr/>
            </a:pPr>
            <a:fld id="{0CA7B74D-3791-4AC6-8451-F10DBCCCDD9A}" type="slidenum">
              <a:rPr lang="en-US">
                <a:solidFill>
                  <a:prstClr val="black"/>
                </a:solidFill>
              </a:rPr>
              <a:pPr defTabSz="465887">
                <a:defRPr/>
              </a:pPr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64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defTabSz="465887">
              <a:defRPr/>
            </a:pPr>
            <a:fld id="{0CA7B74D-3791-4AC6-8451-F10DBCCCDD9A}" type="slidenum">
              <a:rPr lang="en-US">
                <a:solidFill>
                  <a:prstClr val="black"/>
                </a:solidFill>
              </a:rPr>
              <a:pPr defTabSz="465887">
                <a:defRPr/>
              </a:pPr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64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defTabSz="465887">
              <a:defRPr/>
            </a:pPr>
            <a:fld id="{0CA7B74D-3791-4AC6-8451-F10DBCCCDD9A}" type="slidenum">
              <a:rPr lang="en-US">
                <a:solidFill>
                  <a:prstClr val="black"/>
                </a:solidFill>
              </a:rPr>
              <a:pPr defTabSz="465887">
                <a:defRPr/>
              </a:pPr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DA1ED8E-AC55-4B4E-9CC7-78DC6D689357}" type="datetime1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84DBB8-A4DE-461B-94B8-615F91BAA827}" type="datetime1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ECB683-4922-D556-4A86-50742BCEC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C74B97-86E1-6427-690B-4DEFC60B5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1BA53-830D-4830-BB65-E58DBE17D0B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114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A652D94-93F4-40A0-A26F-E9339256BCDC}" type="datetime1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83AF853-CA5D-49CE-8306-5FF4F9CF3EA9}" type="datetime1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B0459D5-72A5-45C4-B16A-D14299DDD578}" type="datetime1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3CBC97C-F471-4420-A42B-A46F686811FA}" type="datetime1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B53512D-D909-4AE0-9AB0-7D2DC5C52581}" type="datetime1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0D1FAD0-6C25-4B8B-89A5-E66A843CD8CF}" type="datetime1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F4C1BB0-3D5C-4E9C-9029-F00452C56F2B}" type="datetime1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EF5D4A-3B8A-4F73-B4D0-567E8A0E3EF9}" type="datetime1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22BEE9E-DEC9-4ACF-AAAA-45C205EB7BF6}" type="datetime1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3FD00B4C-429A-4716-95AB-FD28B9D579F9}" type="datetime1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0A3E502-3AE1-9DA8-F152-54469B5738E1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254241" y="-234"/>
            <a:ext cx="4937759" cy="10817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ensorflow.org/" TargetMode="External"/><Relationship Id="rId3" Type="http://schemas.openxmlformats.org/officeDocument/2006/relationships/image" Target="../media/image4.svg"/><Relationship Id="rId7" Type="http://schemas.openxmlformats.org/officeDocument/2006/relationships/hyperlink" Target="https://www.kaggle.com/datasets/emmarex/plantdisease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11" Type="http://schemas.openxmlformats.org/officeDocument/2006/relationships/hyperlink" Target="https://arxiv.org/abs/1905.02244" TargetMode="External"/><Relationship Id="rId5" Type="http://schemas.openxmlformats.org/officeDocument/2006/relationships/image" Target="../media/image3.png"/><Relationship Id="rId10" Type="http://schemas.openxmlformats.org/officeDocument/2006/relationships/hyperlink" Target="https://flask.palletsprojects.com/" TargetMode="External"/><Relationship Id="rId4" Type="http://schemas.openxmlformats.org/officeDocument/2006/relationships/image" Target="../media/image2.png"/><Relationship Id="rId9" Type="http://schemas.openxmlformats.org/officeDocument/2006/relationships/hyperlink" Target="https://keras.i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789BB7C-1701-4B66-5939-CB68531A283E}"/>
              </a:ext>
            </a:extLst>
          </p:cNvPr>
          <p:cNvSpPr txBox="1"/>
          <p:nvPr/>
        </p:nvSpPr>
        <p:spPr>
          <a:xfrm>
            <a:off x="557631" y="1743021"/>
            <a:ext cx="43801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FASAL SANJEEVANI </a:t>
            </a:r>
            <a:endParaRPr 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B0B01F-242C-918F-35F7-9FFBFD5FF3EC}"/>
              </a:ext>
            </a:extLst>
          </p:cNvPr>
          <p:cNvSpPr txBox="1"/>
          <p:nvPr/>
        </p:nvSpPr>
        <p:spPr>
          <a:xfrm>
            <a:off x="650677" y="2401927"/>
            <a:ext cx="9619390" cy="3351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 - AI &amp; Machine Learning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- #AI-ML-PS2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Category - Crop Disease Detection Network (AI &amp;ML)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 - 13XGFN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Green VISIONARIES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2" name="AutoShape 2" descr="Generated image: OSF-Hackathon tech event banner">
            <a:extLst>
              <a:ext uri="{FF2B5EF4-FFF2-40B4-BE49-F238E27FC236}">
                <a16:creationId xmlns:a16="http://schemas.microsoft.com/office/drawing/2014/main" id="{078873FE-9F70-A8A3-E16A-7476CE93DD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CD67734-0A39-E4CB-4E46-0BD76176D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481" y="66265"/>
            <a:ext cx="4015494" cy="80423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F4B6317-43D1-A931-BF04-60615D02E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4567" y="36752"/>
            <a:ext cx="4587433" cy="100774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CE7FB71-18AF-41A2-B264-6B4FB834DF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9216" y="66265"/>
            <a:ext cx="4937759" cy="1081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398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31326" y="-96987"/>
            <a:ext cx="9812867" cy="1143000"/>
          </a:xfrm>
        </p:spPr>
        <p:txBody>
          <a:bodyPr/>
          <a:lstStyle/>
          <a:p>
            <a:pPr eaLnBrk="1" hangingPunct="1"/>
            <a:r>
              <a:rPr lang="en-US" sz="3600" b="1" u="sng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ＭＳ Ｐゴシック" pitchFamily="1" charset="-128"/>
                <a:cs typeface="Times New Roman" panose="02020603050405020304" pitchFamily="18" charset="0"/>
              </a:rPr>
              <a:t>FASAL SANJEEVANI  </a:t>
            </a:r>
            <a:endParaRPr lang="en-US" b="1" u="sng" spc="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216877" y="864279"/>
            <a:ext cx="11528164" cy="6863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US" sz="3200" b="1" u="sng" dirty="0"/>
              <a:t>Solution Overview</a:t>
            </a:r>
          </a:p>
          <a:p>
            <a:pPr algn="just"/>
            <a:endParaRPr lang="en-US" sz="32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800" b="1" dirty="0"/>
              <a:t>Problem</a:t>
            </a:r>
            <a:r>
              <a:rPr lang="en-IN" sz="2800" dirty="0"/>
              <a:t> :  Farmers often struggle to identify crop diseases early, resulting in crop losses and reduced productivity.</a:t>
            </a:r>
          </a:p>
          <a:p>
            <a:endParaRPr lang="en-IN" sz="2800" dirty="0"/>
          </a:p>
          <a:p>
            <a:r>
              <a:rPr lang="en-IN" sz="2800" b="1" dirty="0"/>
              <a:t>Proposed Solution </a:t>
            </a:r>
            <a:r>
              <a:rPr lang="en-IN" sz="2800" dirty="0"/>
              <a:t>: Fasal Sanjeevani enables farmers to upload leaf images and receive instant disease diagnosis with advisory support.</a:t>
            </a:r>
          </a:p>
          <a:p>
            <a:endParaRPr lang="en-IN" sz="2800" dirty="0"/>
          </a:p>
          <a:p>
            <a:r>
              <a:rPr lang="en-IN" sz="2800" b="1" dirty="0"/>
              <a:t>Key Features</a:t>
            </a:r>
            <a:r>
              <a:rPr lang="en-IN" sz="2800" dirty="0"/>
              <a:t>:</a:t>
            </a:r>
            <a:endParaRPr lang="en-US" sz="2800" dirty="0"/>
          </a:p>
          <a:p>
            <a:r>
              <a:rPr lang="en-US" sz="2800" dirty="0"/>
              <a:t>  • Disease Diagnosis                                      • Symptoms Identification </a:t>
            </a:r>
          </a:p>
          <a:p>
            <a:r>
              <a:rPr lang="en-US" sz="2800" dirty="0"/>
              <a:t>  • Weather Reports                                       • Treatment &amp; Prevention </a:t>
            </a:r>
          </a:p>
          <a:p>
            <a:r>
              <a:rPr lang="en-US" sz="2800" dirty="0"/>
              <a:t>  • Voice Assistance                                        • Bilingual Support </a:t>
            </a:r>
          </a:p>
          <a:p>
            <a:r>
              <a:rPr lang="en-US" sz="3200" dirty="0"/>
              <a:t>  </a:t>
            </a:r>
            <a:r>
              <a:rPr lang="en-US" sz="2800" dirty="0"/>
              <a:t>• Market Price &amp; Govt. Schemes               • Crop Health History &amp; Helpline no.</a:t>
            </a:r>
          </a:p>
          <a:p>
            <a:r>
              <a:rPr lang="en-US" sz="2800" dirty="0"/>
              <a:t>  </a:t>
            </a:r>
            <a:r>
              <a:rPr lang="en-US" sz="3600" dirty="0"/>
              <a:t> </a:t>
            </a:r>
            <a:endParaRPr lang="en-IN" sz="3600" dirty="0"/>
          </a:p>
          <a:p>
            <a:pPr algn="just"/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3600505-8758-5AE6-F4E0-74C95DA20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451" y="36752"/>
            <a:ext cx="3985549" cy="8755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C104916-BAC8-90A0-6731-04B4C6FC71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4241" y="-234"/>
            <a:ext cx="4937759" cy="10817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0" y="463120"/>
            <a:ext cx="9503664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SOLUTION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480741" y="2521540"/>
            <a:ext cx="6905832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b="1" dirty="0">
                <a:latin typeface="+mn-lt"/>
                <a:cs typeface="Arial" pitchFamily="34" charset="0"/>
              </a:rPr>
              <a:t>Technology Stack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800" dirty="0"/>
          </a:p>
          <a:p>
            <a:pPr algn="just"/>
            <a:r>
              <a:rPr lang="en-IN" sz="2800" b="1" dirty="0"/>
              <a:t>Languages</a:t>
            </a:r>
            <a:r>
              <a:rPr lang="en-IN" sz="2800" dirty="0"/>
              <a:t> : </a:t>
            </a:r>
            <a:r>
              <a:rPr lang="en-IN" sz="2400" dirty="0"/>
              <a:t>Python, HTML, CSS, JavaScript</a:t>
            </a:r>
          </a:p>
          <a:p>
            <a:pPr algn="just"/>
            <a:r>
              <a:rPr lang="en-IN" sz="2800" b="1" dirty="0"/>
              <a:t>Frameworks</a:t>
            </a:r>
            <a:r>
              <a:rPr lang="en-IN" sz="2800" dirty="0"/>
              <a:t> : </a:t>
            </a:r>
            <a:r>
              <a:rPr lang="en-IN" sz="2400" dirty="0"/>
              <a:t>Flask, TensorFlow/</a:t>
            </a:r>
            <a:r>
              <a:rPr lang="en-IN" sz="2400" dirty="0" err="1"/>
              <a:t>Keras</a:t>
            </a:r>
            <a:endParaRPr lang="en-IN" sz="2400" dirty="0"/>
          </a:p>
          <a:p>
            <a:pPr algn="just"/>
            <a:r>
              <a:rPr lang="en-IN" sz="2800" b="1" dirty="0"/>
              <a:t>AI Model </a:t>
            </a:r>
            <a:r>
              <a:rPr lang="en-IN" sz="2800" dirty="0"/>
              <a:t>: </a:t>
            </a:r>
            <a:r>
              <a:rPr lang="en-IN" sz="2400" dirty="0"/>
              <a:t>MobileNetV3 (Transfer Learning)</a:t>
            </a:r>
          </a:p>
          <a:p>
            <a:pPr algn="just"/>
            <a:r>
              <a:rPr lang="en-IN" sz="2800" b="1" dirty="0"/>
              <a:t>Dataset</a:t>
            </a:r>
            <a:r>
              <a:rPr lang="en-IN" sz="2800" dirty="0"/>
              <a:t>  : </a:t>
            </a:r>
            <a:r>
              <a:rPr lang="en-IN" sz="2400" dirty="0" err="1"/>
              <a:t>PlantVillage</a:t>
            </a:r>
            <a:r>
              <a:rPr lang="en-IN" sz="2400" dirty="0"/>
              <a:t> Dataset</a:t>
            </a:r>
          </a:p>
          <a:p>
            <a:pPr algn="just"/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289B050-2043-AC61-B89A-ED0C66A130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82818" y="350906"/>
            <a:ext cx="3530991" cy="608634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8CD201-869C-D225-F156-EAE5B41AE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9264" y="258741"/>
            <a:ext cx="3873910" cy="7758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96D950-E63C-CCD5-4FB5-9EDB5A2D6B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9503" y="36751"/>
            <a:ext cx="4542497" cy="9978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80C4E7-3FC6-7306-D3D5-6BECFCD91F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4241" y="-234"/>
            <a:ext cx="4937759" cy="1081711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17FFBF1-128E-A5F4-C569-C4C9C4119780}"/>
              </a:ext>
            </a:extLst>
          </p:cNvPr>
          <p:cNvSpPr/>
          <p:nvPr/>
        </p:nvSpPr>
        <p:spPr>
          <a:xfrm>
            <a:off x="640862" y="2382007"/>
            <a:ext cx="1731948" cy="75786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Leaf Image 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Acquisition</a:t>
            </a:r>
            <a:endParaRPr lang="en-IN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901F6D2-BBD0-1F32-326C-BB50898F27EB}"/>
              </a:ext>
            </a:extLst>
          </p:cNvPr>
          <p:cNvSpPr/>
          <p:nvPr/>
        </p:nvSpPr>
        <p:spPr>
          <a:xfrm>
            <a:off x="640862" y="3557346"/>
            <a:ext cx="1731948" cy="75642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Image 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Preprocessing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1653B1B-BDD3-3303-333B-55329DBE78D0}"/>
              </a:ext>
            </a:extLst>
          </p:cNvPr>
          <p:cNvSpPr/>
          <p:nvPr/>
        </p:nvSpPr>
        <p:spPr>
          <a:xfrm>
            <a:off x="642989" y="5901302"/>
            <a:ext cx="1729821" cy="75786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Disease 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Diagnosis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D745087-7687-9649-D45C-A477A644DBE5}"/>
              </a:ext>
            </a:extLst>
          </p:cNvPr>
          <p:cNvSpPr/>
          <p:nvPr/>
        </p:nvSpPr>
        <p:spPr>
          <a:xfrm>
            <a:off x="2760958" y="2382006"/>
            <a:ext cx="1731948" cy="75786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Multilingual &amp;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Voice support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25B4AB0-C603-C21B-DFB8-60A33756FAFC}"/>
              </a:ext>
            </a:extLst>
          </p:cNvPr>
          <p:cNvSpPr/>
          <p:nvPr/>
        </p:nvSpPr>
        <p:spPr>
          <a:xfrm>
            <a:off x="2760958" y="3555900"/>
            <a:ext cx="1731948" cy="75786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Preventive 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Measures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A1E7AE9-E50E-E844-D836-6D13FE2233E8}"/>
              </a:ext>
            </a:extLst>
          </p:cNvPr>
          <p:cNvSpPr/>
          <p:nvPr/>
        </p:nvSpPr>
        <p:spPr>
          <a:xfrm>
            <a:off x="2760958" y="5901302"/>
            <a:ext cx="1731948" cy="75786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Symptoms 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Insights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DD0ED58-AD8B-4D39-86FC-091BACD88187}"/>
              </a:ext>
            </a:extLst>
          </p:cNvPr>
          <p:cNvSpPr/>
          <p:nvPr/>
        </p:nvSpPr>
        <p:spPr>
          <a:xfrm>
            <a:off x="2760958" y="4732684"/>
            <a:ext cx="1731948" cy="75786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Treatment 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Advisory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50C5724-C528-5E51-35D0-B7FFDAB57C90}"/>
              </a:ext>
            </a:extLst>
          </p:cNvPr>
          <p:cNvSpPr/>
          <p:nvPr/>
        </p:nvSpPr>
        <p:spPr>
          <a:xfrm>
            <a:off x="642989" y="4732684"/>
            <a:ext cx="1731948" cy="75786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MobileNetV3 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Analysis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3D2949C-A70F-6928-7CF1-CB83B0BF8B3E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1506836" y="3139874"/>
            <a:ext cx="0" cy="4174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21D03D7-0D4D-1B7E-D011-A16EAEFE2A47}"/>
              </a:ext>
            </a:extLst>
          </p:cNvPr>
          <p:cNvCxnSpPr>
            <a:cxnSpLocks/>
          </p:cNvCxnSpPr>
          <p:nvPr/>
        </p:nvCxnSpPr>
        <p:spPr>
          <a:xfrm>
            <a:off x="1506836" y="4313767"/>
            <a:ext cx="0" cy="4174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A468784-ED81-6254-AAB8-1F65C98FCF22}"/>
              </a:ext>
            </a:extLst>
          </p:cNvPr>
          <p:cNvCxnSpPr>
            <a:cxnSpLocks/>
          </p:cNvCxnSpPr>
          <p:nvPr/>
        </p:nvCxnSpPr>
        <p:spPr>
          <a:xfrm>
            <a:off x="1506836" y="5490551"/>
            <a:ext cx="0" cy="4174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5D9C77E-49F1-F3D7-5395-4289C71DF510}"/>
              </a:ext>
            </a:extLst>
          </p:cNvPr>
          <p:cNvCxnSpPr>
            <a:cxnSpLocks/>
            <a:stCxn id="19" idx="3"/>
            <a:endCxn id="22" idx="1"/>
          </p:cNvCxnSpPr>
          <p:nvPr/>
        </p:nvCxnSpPr>
        <p:spPr>
          <a:xfrm>
            <a:off x="2372810" y="6280236"/>
            <a:ext cx="38814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AB94A88-A0A8-A6C5-0948-E787F0FAE09C}"/>
              </a:ext>
            </a:extLst>
          </p:cNvPr>
          <p:cNvCxnSpPr>
            <a:cxnSpLocks/>
            <a:stCxn id="21" idx="0"/>
            <a:endCxn id="20" idx="2"/>
          </p:cNvCxnSpPr>
          <p:nvPr/>
        </p:nvCxnSpPr>
        <p:spPr>
          <a:xfrm flipV="1">
            <a:off x="3626932" y="3139873"/>
            <a:ext cx="0" cy="4160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1E41250-97DE-EEEE-D015-BE8948C7EE46}"/>
              </a:ext>
            </a:extLst>
          </p:cNvPr>
          <p:cNvCxnSpPr>
            <a:cxnSpLocks/>
            <a:stCxn id="22" idx="0"/>
            <a:endCxn id="23" idx="2"/>
          </p:cNvCxnSpPr>
          <p:nvPr/>
        </p:nvCxnSpPr>
        <p:spPr>
          <a:xfrm flipV="1">
            <a:off x="3626932" y="5490551"/>
            <a:ext cx="0" cy="41075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E835414F-6E67-2BF3-B12E-F7C964B18542}"/>
              </a:ext>
            </a:extLst>
          </p:cNvPr>
          <p:cNvCxnSpPr>
            <a:cxnSpLocks/>
            <a:stCxn id="23" idx="0"/>
          </p:cNvCxnSpPr>
          <p:nvPr/>
        </p:nvCxnSpPr>
        <p:spPr>
          <a:xfrm flipV="1">
            <a:off x="3626932" y="4313766"/>
            <a:ext cx="0" cy="4189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413" name="TextBox 17412">
            <a:extLst>
              <a:ext uri="{FF2B5EF4-FFF2-40B4-BE49-F238E27FC236}">
                <a16:creationId xmlns:a16="http://schemas.microsoft.com/office/drawing/2014/main" id="{A0221B13-E70E-8B11-8BA9-3EBD48FBFCF7}"/>
              </a:ext>
            </a:extLst>
          </p:cNvPr>
          <p:cNvSpPr txBox="1"/>
          <p:nvPr/>
        </p:nvSpPr>
        <p:spPr>
          <a:xfrm>
            <a:off x="556361" y="1613979"/>
            <a:ext cx="51639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b="1" dirty="0">
                <a:latin typeface="+mn-lt"/>
                <a:cs typeface="Arial" panose="020B0604020202020204" pitchFamily="34" charset="0"/>
              </a:rPr>
              <a:t>Implementation</a:t>
            </a:r>
            <a: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Arial" panose="020B0604020202020204" pitchFamily="34" charset="0"/>
              </a:rPr>
              <a:t> </a:t>
            </a:r>
            <a:r>
              <a:rPr lang="en-IN" sz="3200" b="1" dirty="0">
                <a:latin typeface="+mn-lt"/>
                <a:cs typeface="Arial" panose="020B0604020202020204" pitchFamily="34" charset="0"/>
              </a:rPr>
              <a:t>Workflow</a:t>
            </a:r>
            <a:endParaRPr lang="en-IN" sz="3200" dirty="0"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-476906" y="733567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84791" y="1955148"/>
            <a:ext cx="407938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u="sng" dirty="0"/>
              <a:t>Feasibility</a:t>
            </a:r>
          </a:p>
          <a:p>
            <a:r>
              <a:rPr lang="en-IN" sz="2400" dirty="0"/>
              <a:t>        Open-Source Solution </a:t>
            </a:r>
          </a:p>
          <a:p>
            <a:r>
              <a:rPr lang="en-IN" sz="2400" dirty="0"/>
              <a:t>        Cost Effective Deployment</a:t>
            </a:r>
          </a:p>
          <a:p>
            <a:r>
              <a:rPr lang="en-IN" sz="2400" dirty="0"/>
              <a:t>        Mobile friendly  Platform </a:t>
            </a:r>
          </a:p>
          <a:p>
            <a:r>
              <a:rPr lang="en-IN" sz="2400" dirty="0"/>
              <a:t>   </a:t>
            </a:r>
          </a:p>
          <a:p>
            <a:r>
              <a:rPr lang="en-IN" sz="2800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u="sng" dirty="0"/>
              <a:t>Challenges</a:t>
            </a:r>
          </a:p>
          <a:p>
            <a:r>
              <a:rPr lang="en-IN" sz="2400" dirty="0"/>
              <a:t>        Image Variability </a:t>
            </a:r>
          </a:p>
          <a:p>
            <a:r>
              <a:rPr lang="en-IN" sz="2400" dirty="0"/>
              <a:t>        Lighting Conditions </a:t>
            </a:r>
          </a:p>
          <a:p>
            <a:r>
              <a:rPr lang="en-IN" sz="2400" dirty="0"/>
              <a:t>        Connectivity Constraints 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DF00B13-7184-6E23-3D82-8AEEB33D9A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37600" y="350906"/>
            <a:ext cx="3114121" cy="46291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C8558D-8D67-3E9F-F008-9D2098E4DE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5860" y="136523"/>
            <a:ext cx="3852441" cy="7715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86AF68-E6C7-5A61-78D6-68C582DC9B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6451" y="36752"/>
            <a:ext cx="3985549" cy="8755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ABFBA4-03D6-CF50-D2CB-60612AB79E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4241" y="-234"/>
            <a:ext cx="4937759" cy="10817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94DBA9-F12E-6930-F2EF-1AF3ABF610BC}"/>
              </a:ext>
            </a:extLst>
          </p:cNvPr>
          <p:cNvSpPr txBox="1"/>
          <p:nvPr/>
        </p:nvSpPr>
        <p:spPr>
          <a:xfrm>
            <a:off x="6643493" y="1955148"/>
            <a:ext cx="4541693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u="sng" dirty="0"/>
              <a:t>Mitigation</a:t>
            </a:r>
          </a:p>
          <a:p>
            <a:r>
              <a:rPr lang="en-IN" sz="2400" dirty="0"/>
              <a:t>        Image Preprocessing</a:t>
            </a:r>
            <a:br>
              <a:rPr lang="en-IN" sz="2400" dirty="0"/>
            </a:br>
            <a:r>
              <a:rPr lang="en-IN" sz="2400" dirty="0"/>
              <a:t>        Data Augmentation</a:t>
            </a:r>
            <a:br>
              <a:rPr lang="en-IN" sz="2400" dirty="0"/>
            </a:br>
            <a:r>
              <a:rPr lang="en-IN" sz="2400" dirty="0"/>
              <a:t>        Responsive Web Design</a:t>
            </a:r>
          </a:p>
          <a:p>
            <a:endParaRPr lang="en-IN" sz="2800" b="1" u="sng" dirty="0"/>
          </a:p>
          <a:p>
            <a:endParaRPr lang="en-IN" sz="2800" b="1" u="sng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u="sng" dirty="0"/>
              <a:t>Future Scope </a:t>
            </a:r>
          </a:p>
          <a:p>
            <a:r>
              <a:rPr lang="en-IN" sz="2400" dirty="0"/>
              <a:t>        Offline Functionality</a:t>
            </a:r>
          </a:p>
          <a:p>
            <a:r>
              <a:rPr lang="en-IN" sz="2400" dirty="0"/>
              <a:t>        Additional Crop Support</a:t>
            </a:r>
            <a:br>
              <a:rPr lang="en-IN" sz="2400" dirty="0"/>
            </a:br>
            <a:r>
              <a:rPr lang="en-IN" sz="2400" dirty="0"/>
              <a:t>        Regional Language Expansion</a:t>
            </a:r>
            <a:endParaRPr lang="en-IN" sz="2400" b="1" u="sng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-369050" y="677055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55050" y="1911778"/>
            <a:ext cx="5798702" cy="4462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u="sng" dirty="0"/>
              <a:t>Impact on Farmers</a:t>
            </a:r>
          </a:p>
          <a:p>
            <a:r>
              <a:rPr lang="en-IN" sz="2400" dirty="0"/>
              <a:t>         Early AI detection of crop diseases</a:t>
            </a:r>
          </a:p>
          <a:p>
            <a:r>
              <a:rPr lang="en-IN" sz="2400" dirty="0"/>
              <a:t>         Reduces crop loss and damage</a:t>
            </a:r>
          </a:p>
          <a:p>
            <a:r>
              <a:rPr lang="en-IN" sz="2400" dirty="0"/>
              <a:t>         Stores disease history for future analysis               </a:t>
            </a:r>
          </a:p>
          <a:p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u="sng" dirty="0"/>
              <a:t>Agricultural Efficiency </a:t>
            </a:r>
            <a:endParaRPr lang="en-IN" sz="2400" dirty="0"/>
          </a:p>
          <a:p>
            <a:r>
              <a:rPr lang="en-IN" sz="2400" dirty="0"/>
              <a:t>         Reduces manual inspection effort </a:t>
            </a:r>
          </a:p>
          <a:p>
            <a:r>
              <a:rPr lang="en-IN" sz="2400" dirty="0"/>
              <a:t>         Provides quick and reliable results </a:t>
            </a:r>
          </a:p>
          <a:p>
            <a:r>
              <a:rPr lang="en-IN" sz="2400" dirty="0"/>
              <a:t>         Data driven smart farming </a:t>
            </a:r>
          </a:p>
          <a:p>
            <a:endParaRPr lang="en-IN" sz="2800" dirty="0"/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EC10E74-6A4D-C182-6A00-713CC11407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37600" y="350906"/>
            <a:ext cx="3114121" cy="46291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16A619-C73E-0C6C-F3D0-1D6EC6FF43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1030" y="265472"/>
            <a:ext cx="3668782" cy="7347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81D933-5D05-8531-E4CD-D42C6BFF6A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6451" y="124746"/>
            <a:ext cx="3985549" cy="8755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8CDB4F-77C5-2BDF-35DC-E4123B79D1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4241" y="-234"/>
            <a:ext cx="4937759" cy="10817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09286E-6587-8588-5245-63D581A0A7F1}"/>
              </a:ext>
            </a:extLst>
          </p:cNvPr>
          <p:cNvSpPr txBox="1"/>
          <p:nvPr/>
        </p:nvSpPr>
        <p:spPr>
          <a:xfrm>
            <a:off x="6393297" y="1910363"/>
            <a:ext cx="5798703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u="sng" dirty="0"/>
              <a:t>Social &amp; Economic Benefits</a:t>
            </a:r>
          </a:p>
          <a:p>
            <a:r>
              <a:rPr lang="en-IN" sz="2400" dirty="0"/>
              <a:t>         Increases farming Income </a:t>
            </a:r>
          </a:p>
          <a:p>
            <a:r>
              <a:rPr lang="en-IN" sz="2400" dirty="0"/>
              <a:t>         Improves quality of agricultural produce</a:t>
            </a:r>
          </a:p>
          <a:p>
            <a:r>
              <a:rPr lang="en-IN" sz="2400" dirty="0"/>
              <a:t>         Reduces cost of disease management</a:t>
            </a:r>
          </a:p>
          <a:p>
            <a:endParaRPr lang="en-IN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b="1" u="sng" dirty="0"/>
              <a:t>Environmental Impact</a:t>
            </a:r>
          </a:p>
          <a:p>
            <a:r>
              <a:rPr lang="en-IN" sz="2400" dirty="0"/>
              <a:t>        Reduces pesticide usage </a:t>
            </a:r>
          </a:p>
          <a:p>
            <a:r>
              <a:rPr lang="en-IN" sz="2400" dirty="0"/>
              <a:t>        Promotes eco-friendly farming </a:t>
            </a:r>
          </a:p>
          <a:p>
            <a:r>
              <a:rPr lang="en-IN" sz="2400" dirty="0"/>
              <a:t>        Supports sustainable agriculture</a:t>
            </a:r>
          </a:p>
          <a:p>
            <a:endParaRPr lang="en-IN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28600" y="780984"/>
            <a:ext cx="9494520" cy="1029752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23B0F35-F242-223B-4CC1-9E972757D7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37600" y="350906"/>
            <a:ext cx="3114121" cy="46291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8BDB3C-E811-36EA-D186-A8A89776A7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370" y="136523"/>
            <a:ext cx="3852441" cy="7715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3836ED-A75B-5F9D-62E2-B8221DDB9A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2831" y="36752"/>
            <a:ext cx="4159170" cy="9136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82B17F-F4DE-7E11-8F80-9A55F01B90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4241" y="-234"/>
            <a:ext cx="4937759" cy="10817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90ED391-B850-ACDE-0907-A00440F5BA8E}"/>
              </a:ext>
            </a:extLst>
          </p:cNvPr>
          <p:cNvSpPr txBox="1"/>
          <p:nvPr/>
        </p:nvSpPr>
        <p:spPr>
          <a:xfrm>
            <a:off x="609600" y="1725938"/>
            <a:ext cx="10739120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Research Sources :-</a:t>
            </a:r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  </a:t>
            </a:r>
            <a:r>
              <a:rPr lang="en-IN" sz="2400" dirty="0" err="1"/>
              <a:t>PlantVillage</a:t>
            </a:r>
            <a:r>
              <a:rPr lang="en-IN" sz="2400" dirty="0"/>
              <a:t> Dataset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  TensorFlow &amp; </a:t>
            </a:r>
            <a:r>
              <a:rPr lang="en-IN" sz="2400" dirty="0" err="1"/>
              <a:t>Keras</a:t>
            </a:r>
            <a:r>
              <a:rPr lang="en-IN" sz="2400" dirty="0"/>
              <a:t> Documentation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  Flask Documentation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  MobileNetV3 Research</a:t>
            </a:r>
          </a:p>
          <a:p>
            <a:br>
              <a:rPr lang="en-IN" dirty="0"/>
            </a:br>
            <a:r>
              <a:rPr lang="en-IN" sz="2800" b="1" dirty="0"/>
              <a:t>References :-</a:t>
            </a: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err="1"/>
              <a:t>PlantVillage</a:t>
            </a:r>
            <a:r>
              <a:rPr lang="en-IN" sz="2400" dirty="0"/>
              <a:t> Dataset → </a:t>
            </a:r>
            <a:r>
              <a:rPr lang="en-IN" sz="2400" dirty="0">
                <a:hlinkClick r:id="rId7"/>
              </a:rPr>
              <a:t>https://www.kaggle.com/datasets/emmarex/plantdisease</a:t>
            </a: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  TensorFlow Official Documentation → </a:t>
            </a:r>
            <a:r>
              <a:rPr lang="en-IN" sz="2400" dirty="0">
                <a:hlinkClick r:id="rId8"/>
              </a:rPr>
              <a:t>https://www.tensorflow.org/</a:t>
            </a: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  </a:t>
            </a:r>
            <a:r>
              <a:rPr lang="en-IN" sz="2400" dirty="0" err="1"/>
              <a:t>Keras</a:t>
            </a:r>
            <a:r>
              <a:rPr lang="en-IN" sz="2400" dirty="0"/>
              <a:t> Documentation →  </a:t>
            </a:r>
            <a:r>
              <a:rPr lang="en-IN" sz="2400" dirty="0">
                <a:hlinkClick r:id="rId9"/>
              </a:rPr>
              <a:t>https://keras.io/</a:t>
            </a: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  Flask Official Documentation → </a:t>
            </a:r>
            <a:r>
              <a:rPr lang="en-IN" sz="2400" dirty="0">
                <a:hlinkClick r:id="rId10"/>
              </a:rPr>
              <a:t>https://flask.palletsprojects.com/</a:t>
            </a:r>
            <a:r>
              <a:rPr lang="en-IN" sz="2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  MobileNetV3 Paper → </a:t>
            </a:r>
            <a:r>
              <a:rPr lang="en-IN" sz="2400" dirty="0">
                <a:hlinkClick r:id="rId11"/>
              </a:rPr>
              <a:t>https://arxiv.org/abs/1905.02244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8451</TotalTime>
  <Words>407</Words>
  <Application>Microsoft Office PowerPoint</Application>
  <PresentationFormat>Widescreen</PresentationFormat>
  <Paragraphs>107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ＭＳ Ｐゴシック</vt:lpstr>
      <vt:lpstr>Arial</vt:lpstr>
      <vt:lpstr>Calibri</vt:lpstr>
      <vt:lpstr>Times New Roman</vt:lpstr>
      <vt:lpstr>TradeGothic</vt:lpstr>
      <vt:lpstr>Office Theme</vt:lpstr>
      <vt:lpstr>PowerPoint Presentation</vt:lpstr>
      <vt:lpstr>FASAL SANJEEVANI  </vt:lpstr>
      <vt:lpstr>SOLUTION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Palak Parashar</cp:lastModifiedBy>
  <cp:revision>165</cp:revision>
  <cp:lastPrinted>2026-03-25T11:02:59Z</cp:lastPrinted>
  <dcterms:created xsi:type="dcterms:W3CDTF">2013-12-12T18:46:50Z</dcterms:created>
  <dcterms:modified xsi:type="dcterms:W3CDTF">2026-06-26T10:15:34Z</dcterms:modified>
  <cp:category/>
</cp:coreProperties>
</file>